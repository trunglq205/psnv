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8" r:id="rId3"/>
    <p:sldId id="259" r:id="rId4"/>
    <p:sldId id="260" r:id="rId5"/>
    <p:sldId id="261" r:id="rId6"/>
    <p:sldId id="262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1" r:id="rId39"/>
    <p:sldId id="302" r:id="rId40"/>
    <p:sldId id="303" r:id="rId41"/>
    <p:sldId id="304" r:id="rId42"/>
    <p:sldId id="305" r:id="rId43"/>
    <p:sldId id="306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1393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0" y="1371600"/>
            <a:ext cx="731520" cy="0"/>
          </a:xfrm>
          <a:prstGeom prst="line">
            <a:avLst/>
          </a:prstGeom>
          <a:noFill/>
          <a:ln w="38100">
            <a:solidFill>
              <a:srgbClr val="FFD93D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65814" y="2147494"/>
            <a:ext cx="517263" cy="517263"/>
          </a:xfrm>
          <a:prstGeom prst="line">
            <a:avLst/>
          </a:prstGeom>
          <a:noFill/>
          <a:ln w="38100">
            <a:solidFill>
              <a:srgbClr val="FFD93D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0" y="2468880"/>
            <a:ext cx="0" cy="731520"/>
          </a:xfrm>
          <a:prstGeom prst="line">
            <a:avLst/>
          </a:prstGeom>
          <a:noFill/>
          <a:ln w="38100">
            <a:solidFill>
              <a:srgbClr val="FFD93D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14026" y="2147494"/>
            <a:ext cx="0" cy="517263"/>
          </a:xfrm>
          <a:prstGeom prst="line">
            <a:avLst/>
          </a:prstGeom>
          <a:noFill/>
          <a:ln w="38100">
            <a:solidFill>
              <a:srgbClr val="FFD93D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1371600"/>
            <a:ext cx="0" cy="0"/>
          </a:xfrm>
          <a:prstGeom prst="line">
            <a:avLst/>
          </a:prstGeom>
          <a:noFill/>
          <a:ln w="38100">
            <a:solidFill>
              <a:srgbClr val="FFD93D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14026" y="595706"/>
            <a:ext cx="0" cy="0"/>
          </a:xfrm>
          <a:prstGeom prst="line">
            <a:avLst/>
          </a:prstGeom>
          <a:noFill/>
          <a:ln w="38100">
            <a:solidFill>
              <a:srgbClr val="FFD93D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0" y="274320"/>
            <a:ext cx="0" cy="0"/>
          </a:xfrm>
          <a:prstGeom prst="line">
            <a:avLst/>
          </a:prstGeom>
          <a:noFill/>
          <a:ln w="38100">
            <a:solidFill>
              <a:srgbClr val="FFD93D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65814" y="595706"/>
            <a:ext cx="517263" cy="0"/>
          </a:xfrm>
          <a:prstGeom prst="line">
            <a:avLst/>
          </a:prstGeom>
          <a:noFill/>
          <a:ln w="38100">
            <a:solidFill>
              <a:srgbClr val="FFD93D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0" y="457200"/>
            <a:ext cx="1828800" cy="182880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0" y="640080"/>
            <a:ext cx="1463040" cy="146304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2" name="Shape 10"/>
          <p:cNvSpPr/>
          <p:nvPr/>
        </p:nvSpPr>
        <p:spPr>
          <a:xfrm>
            <a:off x="-1828800" y="5760720"/>
            <a:ext cx="15819120" cy="2743200"/>
          </a:xfrm>
          <a:prstGeom prst="ellipse">
            <a:avLst/>
          </a:prstGeom>
          <a:solidFill>
            <a:srgbClr val="4ECDC4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-914400" y="6400800"/>
            <a:ext cx="13990320" cy="1828800"/>
          </a:xfrm>
          <a:prstGeom prst="ellipse">
            <a:avLst/>
          </a:prstGeom>
          <a:solidFill>
            <a:srgbClr val="FF6B6B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FFD93D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400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SUMMER VACATION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457200" y="2560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FY2026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6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DEPARTMENT  -  GALA DINNER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251960" y="4114800"/>
            <a:ext cx="3657600" cy="64008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4114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🎮  GAMESHOW  🎮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5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828800"/>
            <a:ext cx="3657600" cy="3657600"/>
          </a:xfrm>
          <a:prstGeom prst="ellipse">
            <a:avLst/>
          </a:prstGeom>
          <a:solidFill>
            <a:srgbClr val="FFD93D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1463040"/>
            <a:ext cx="2926080" cy="292608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5943600"/>
            <a:ext cx="15819120" cy="2743200"/>
          </a:xfrm>
          <a:prstGeom prst="ellipse">
            <a:avLst/>
          </a:prstGeom>
          <a:solidFill>
            <a:srgbClr val="4ECDC4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400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🎮 MINI GAME NIGHT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thử thách - Chia 2 phe theo dãy bàn - Jackpot bùng nổ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9476" y="1645920"/>
            <a:ext cx="2148840" cy="42062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9476" y="1645920"/>
            <a:ext cx="2148840" cy="4572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379476" y="16916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9476" y="23774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📸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70916" y="384048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PHOTO REACTION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" y="49377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đội × 4 người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92908" y="1645920"/>
            <a:ext cx="2148840" cy="42062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92908" y="1645920"/>
            <a:ext cx="2148840" cy="4572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5" name="Text 13"/>
          <p:cNvSpPr/>
          <p:nvPr/>
        </p:nvSpPr>
        <p:spPr>
          <a:xfrm>
            <a:off x="2692908" y="16916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2908" y="23774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🧩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2784348" y="384048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ĐUỔI HÌNH BẮT CHỮ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84348" y="49377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 nhân · Quiz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06340" y="1645920"/>
            <a:ext cx="2148840" cy="42062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06340" y="1645920"/>
            <a:ext cx="2148840" cy="4572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1" name="Text 19"/>
          <p:cNvSpPr/>
          <p:nvPr/>
        </p:nvSpPr>
        <p:spPr>
          <a:xfrm>
            <a:off x="5006340" y="16916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06340" y="23774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🎈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5097780" y="384048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LÁ PHỔI VÔ ĐỊCH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97780" y="49377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đội thi đấu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9772" y="1645920"/>
            <a:ext cx="2148840" cy="42062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9772" y="1645920"/>
            <a:ext cx="2148840" cy="457200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27" name="Text 25"/>
          <p:cNvSpPr/>
          <p:nvPr/>
        </p:nvSpPr>
        <p:spPr>
          <a:xfrm>
            <a:off x="7319772" y="16916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9772" y="23774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🧠</a:t>
            </a:r>
            <a:endParaRPr lang="en-US" sz="5600" dirty="0"/>
          </a:p>
        </p:txBody>
      </p:sp>
      <p:sp>
        <p:nvSpPr>
          <p:cNvPr id="29" name="Text 27"/>
          <p:cNvSpPr/>
          <p:nvPr/>
        </p:nvSpPr>
        <p:spPr>
          <a:xfrm>
            <a:off x="7411212" y="384048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SIÊU TRÍ TUỆ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11212" y="49377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đội thi đấu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633204" y="1645920"/>
            <a:ext cx="2148840" cy="42062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633204" y="1645920"/>
            <a:ext cx="2148840" cy="4572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3" name="Text 31"/>
          <p:cNvSpPr/>
          <p:nvPr/>
        </p:nvSpPr>
        <p:spPr>
          <a:xfrm>
            <a:off x="9633204" y="16916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633204" y="23774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🎰</a:t>
            </a:r>
            <a:endParaRPr lang="en-US" sz="5600" dirty="0"/>
          </a:p>
        </p:txBody>
      </p:sp>
      <p:sp>
        <p:nvSpPr>
          <p:cNvPr id="35" name="Text 33"/>
          <p:cNvSpPr/>
          <p:nvPr/>
        </p:nvSpPr>
        <p:spPr>
          <a:xfrm>
            <a:off x="9724644" y="384048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CHAM </a:t>
            </a:r>
            <a:r>
              <a:rPr lang="en-US" sz="1300" b="1" dirty="0" err="1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CHAM</a:t>
            </a:r>
            <a:r>
              <a:rPr lang="en-US" sz="13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300" b="1" dirty="0" err="1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CHAM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724644" y="49377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JACKPOT · 8 người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880360" y="6263640"/>
            <a:ext cx="6400800" cy="411480"/>
          </a:xfrm>
          <a:prstGeom prst="roundRect">
            <a:avLst>
              <a:gd name="adj" fmla="val 48889"/>
            </a:avLst>
          </a:prstGeom>
          <a:solidFill>
            <a:srgbClr val="FF6B6B"/>
          </a:solidFill>
          <a:ln/>
        </p:spPr>
      </p:sp>
      <p:sp>
        <p:nvSpPr>
          <p:cNvPr id="38" name="Text 36"/>
          <p:cNvSpPr/>
          <p:nvPr/>
        </p:nvSpPr>
        <p:spPr>
          <a:xfrm>
            <a:off x="2880360" y="6263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🔥  TOÀN BỘ CHIA 2 PHE THEO DÃY BÀN  🔥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⚔️ CHIA 2 PHE THI ĐẤU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thành viên chia thành 2 phe theo 2 dãy bàn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1828800"/>
            <a:ext cx="4389120" cy="3657600"/>
          </a:xfrm>
          <a:prstGeom prst="roundRect">
            <a:avLst>
              <a:gd name="adj" fmla="val 5000"/>
            </a:avLst>
          </a:prstGeom>
          <a:solidFill>
            <a:srgbClr val="FF8C42"/>
          </a:solidFill>
          <a:ln/>
          <a:effectLst>
            <a:outerShdw blurRad="1270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210312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000000"/>
                </a:solidFill>
              </a:rPr>
              <a:t>☀️</a:t>
            </a:r>
            <a:endParaRPr lang="en-US" sz="70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SUNSHINE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0" y="39319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Năng lượng - Rực rỡ - Bùng nổ ☀️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03120" y="4572000"/>
            <a:ext cx="292608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4572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FF8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DÃY BÀN 1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532120" y="3108960"/>
            <a:ext cx="1097280" cy="1097280"/>
          </a:xfrm>
          <a:prstGeom prst="ellipse">
            <a:avLst/>
          </a:prstGeom>
          <a:solidFill>
            <a:srgbClr val="FFD93D"/>
          </a:solidFill>
          <a:ln w="38100">
            <a:solidFill>
              <a:srgbClr val="1A5490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32120" y="31089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400800" y="1828800"/>
            <a:ext cx="4389120" cy="3657600"/>
          </a:xfrm>
          <a:prstGeom prst="roundRect">
            <a:avLst>
              <a:gd name="adj" fmla="val 5000"/>
            </a:avLst>
          </a:prstGeom>
          <a:solidFill>
            <a:srgbClr val="4ECDC4"/>
          </a:solidFill>
          <a:ln/>
          <a:effectLst>
            <a:outerShdw blurRad="1270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210312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000000"/>
                </a:solidFill>
              </a:rPr>
              <a:t>🌊</a:t>
            </a:r>
            <a:endParaRPr lang="en-US" sz="7000" dirty="0"/>
          </a:p>
        </p:txBody>
      </p:sp>
      <p:sp>
        <p:nvSpPr>
          <p:cNvPr id="19" name="Text 17"/>
          <p:cNvSpPr/>
          <p:nvPr/>
        </p:nvSpPr>
        <p:spPr>
          <a:xfrm>
            <a:off x="6400800" y="32918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OCEAN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00800" y="39319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Mạnh mẽ - Sâu sắc - Bất bại 🌊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32320" y="4572000"/>
            <a:ext cx="292608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4572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DÃY BÀN 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Game 3 &amp; 4: 2 phe đối đầu trực tiếp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FD93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1A5490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66360" y="914400"/>
            <a:ext cx="1828800" cy="1828800"/>
          </a:xfrm>
          <a:prstGeom prst="ellipse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6636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3474720"/>
            <a:ext cx="11612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PHOTO REACTION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4 đội × 4 người · Tạo dáng theo ảnh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983480" y="557784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55778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~15 phút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📸 GAME 1 - LUẬT CHƠI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Reaction Challenge · 4 đội × 4 người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68580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837944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8379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176479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Chia đội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1031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thành 4 đội, mỗi đội 4 người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68580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752344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7523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25880" y="267919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Chọn số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0175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đội chọn 1 số từ 1-5 (mỗi đội chọn số khác nhau)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68580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666744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6667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25880" y="359359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Xem ảnh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39319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tương ứng được chiếu lên màn hình - đội có 1 phút 30 giây để nhìn và tập tạo dáng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68580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4581144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5811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325880" y="450799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Quay mặt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48463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 quay mặt lại, giữ pose trong 5 giây để chụp ảnh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349240"/>
            <a:ext cx="68580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4360" y="5495544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54955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325880" y="542239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25880" y="57607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4 đội hoàn thành, 4 ảnh được gửi vào nhóm Zalo để mọi người vote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80960" y="1691640"/>
            <a:ext cx="4114800" cy="4572000"/>
          </a:xfrm>
          <a:prstGeom prst="roundRect">
            <a:avLst>
              <a:gd name="adj" fmla="val 3333"/>
            </a:avLst>
          </a:prstGeom>
          <a:solidFill>
            <a:srgbClr val="1A549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680960" y="17830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⏱  THỜI GIAN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046720" y="2240280"/>
            <a:ext cx="33832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046720" y="2286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PHÚT 30 GIÂY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8046720" y="2697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Nhìn ảnh &amp; tập tạo dáng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80960" y="3337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D93D"/>
                </a:solidFill>
              </a:rPr>
              <a:t>⬇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8046720" y="3794760"/>
            <a:ext cx="33832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8046720" y="3840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8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GIÂY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8046720" y="4251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pose để chụp ảnh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680960" y="4937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📲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7680960" y="5440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trên Zalo group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680960" y="5806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 nhiều vote nhất = thắng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CHỌN SỐ CỦA BẠN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đội chọn 1 số khác nhau từ 1 đến 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1828800"/>
            <a:ext cx="1828800" cy="3840480"/>
          </a:xfrm>
          <a:prstGeom prst="roundRect">
            <a:avLst>
              <a:gd name="adj" fmla="val 7500"/>
            </a:avLst>
          </a:prstGeom>
          <a:solidFill>
            <a:srgbClr val="FF8C42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2103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❓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960120" y="30175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0" dirty="0"/>
          </a:p>
        </p:txBody>
      </p:sp>
      <p:sp>
        <p:nvSpPr>
          <p:cNvPr id="12" name="Shape 10"/>
          <p:cNvSpPr/>
          <p:nvPr/>
        </p:nvSpPr>
        <p:spPr>
          <a:xfrm>
            <a:off x="1188720" y="507492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5074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8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SỐ 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063240" y="1828800"/>
            <a:ext cx="1828800" cy="3840480"/>
          </a:xfrm>
          <a:prstGeom prst="roundRect">
            <a:avLst>
              <a:gd name="adj" fmla="val 7500"/>
            </a:avLst>
          </a:prstGeom>
          <a:solidFill>
            <a:srgbClr val="FF6B6B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63240" y="2103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❓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3063240" y="30175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0" dirty="0"/>
          </a:p>
        </p:txBody>
      </p:sp>
      <p:sp>
        <p:nvSpPr>
          <p:cNvPr id="17" name="Shape 15"/>
          <p:cNvSpPr/>
          <p:nvPr/>
        </p:nvSpPr>
        <p:spPr>
          <a:xfrm>
            <a:off x="3291840" y="507492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5074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SỐ 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66360" y="1828800"/>
            <a:ext cx="1828800" cy="3840480"/>
          </a:xfrm>
          <a:prstGeom prst="roundRect">
            <a:avLst>
              <a:gd name="adj" fmla="val 7500"/>
            </a:avLst>
          </a:prstGeom>
          <a:solidFill>
            <a:srgbClr val="06A77D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66360" y="2103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❓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5166360" y="30175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0" dirty="0"/>
          </a:p>
        </p:txBody>
      </p:sp>
      <p:sp>
        <p:nvSpPr>
          <p:cNvPr id="22" name="Shape 20"/>
          <p:cNvSpPr/>
          <p:nvPr/>
        </p:nvSpPr>
        <p:spPr>
          <a:xfrm>
            <a:off x="5394960" y="507492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394960" y="5074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A7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SỐ 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69480" y="1828800"/>
            <a:ext cx="1828800" cy="3840480"/>
          </a:xfrm>
          <a:prstGeom prst="roundRect">
            <a:avLst>
              <a:gd name="adj" fmla="val 7500"/>
            </a:avLst>
          </a:prstGeom>
          <a:solidFill>
            <a:srgbClr val="4ECDC4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69480" y="2103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❓</a:t>
            </a:r>
            <a:endParaRPr lang="en-US" sz="5600" dirty="0"/>
          </a:p>
        </p:txBody>
      </p:sp>
      <p:sp>
        <p:nvSpPr>
          <p:cNvPr id="26" name="Text 24"/>
          <p:cNvSpPr/>
          <p:nvPr/>
        </p:nvSpPr>
        <p:spPr>
          <a:xfrm>
            <a:off x="7269480" y="30175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0" dirty="0"/>
          </a:p>
        </p:txBody>
      </p:sp>
      <p:sp>
        <p:nvSpPr>
          <p:cNvPr id="27" name="Shape 25"/>
          <p:cNvSpPr/>
          <p:nvPr/>
        </p:nvSpPr>
        <p:spPr>
          <a:xfrm>
            <a:off x="7498080" y="507492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5074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SỐ 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372600" y="1828800"/>
            <a:ext cx="1828800" cy="3840480"/>
          </a:xfrm>
          <a:prstGeom prst="roundRect">
            <a:avLst>
              <a:gd name="adj" fmla="val 7500"/>
            </a:avLst>
          </a:prstGeom>
          <a:solidFill>
            <a:srgbClr val="9B59B6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372600" y="2103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❓</a:t>
            </a:r>
            <a:endParaRPr lang="en-US" sz="5600" dirty="0"/>
          </a:p>
        </p:txBody>
      </p:sp>
      <p:sp>
        <p:nvSpPr>
          <p:cNvPr id="31" name="Text 29"/>
          <p:cNvSpPr/>
          <p:nvPr/>
        </p:nvSpPr>
        <p:spPr>
          <a:xfrm>
            <a:off x="9372600" y="30175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0" dirty="0"/>
          </a:p>
        </p:txBody>
      </p:sp>
      <p:sp>
        <p:nvSpPr>
          <p:cNvPr id="32" name="Shape 30"/>
          <p:cNvSpPr/>
          <p:nvPr/>
        </p:nvSpPr>
        <p:spPr>
          <a:xfrm>
            <a:off x="9601200" y="507492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0" y="5074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SỐ 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423160" y="6263640"/>
            <a:ext cx="7315200" cy="411480"/>
          </a:xfrm>
          <a:prstGeom prst="roundRect">
            <a:avLst>
              <a:gd name="adj" fmla="val 48889"/>
            </a:avLst>
          </a:prstGeom>
          <a:solidFill>
            <a:srgbClr val="1A5490"/>
          </a:solidFill>
          <a:ln/>
        </p:spPr>
      </p:sp>
      <p:sp>
        <p:nvSpPr>
          <p:cNvPr id="35" name="Text 33"/>
          <p:cNvSpPr/>
          <p:nvPr/>
        </p:nvSpPr>
        <p:spPr>
          <a:xfrm>
            <a:off x="2423160" y="6263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Mỗi đội chọn 1 số khác nhau · Không thể trùng số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FD93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1A5490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000000"/>
                </a:solidFill>
              </a:rPr>
              <a:t>📸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kern="0" spc="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QUAY MẶT LẠI!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dáng - giữ 5 giây - chụp ảnh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09160" y="3931920"/>
            <a:ext cx="2743200" cy="2743200"/>
          </a:xfrm>
          <a:prstGeom prst="ellipse">
            <a:avLst/>
          </a:prstGeom>
          <a:solidFill>
            <a:srgbClr val="FFD93D"/>
          </a:solidFill>
          <a:ln w="63500">
            <a:solidFill>
              <a:srgbClr val="FFFFFF"/>
            </a:solidFill>
            <a:prstDash val="solid"/>
          </a:ln>
          <a:effectLst>
            <a:outerShdw blurRad="190500" dist="635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393192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GIẢI THƯỞNG GAME 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trên Zalo group - đội nhiều vote nhất = thắng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2011680"/>
            <a:ext cx="4389120" cy="4023360"/>
          </a:xfrm>
          <a:prstGeom prst="roundRect">
            <a:avLst>
              <a:gd name="adj" fmla="val 4545"/>
            </a:avLst>
          </a:prstGeom>
          <a:solidFill>
            <a:srgbClr val="FFD93D"/>
          </a:solidFill>
          <a:ln w="50800">
            <a:solidFill>
              <a:srgbClr val="FF6B6B"/>
            </a:solidFill>
            <a:prstDash val="solid"/>
          </a:ln>
          <a:effectLst>
            <a:outerShdw blurRad="190500" dist="635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228600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🥇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1371600" y="33832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6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71600" y="40233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💰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1371600" y="47548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kern="0" spc="400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TIỀN MẶT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371600" y="5349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2011680"/>
            <a:ext cx="4389120" cy="4023360"/>
          </a:xfrm>
          <a:prstGeom prst="roundRect">
            <a:avLst>
              <a:gd name="adj" fmla="val 4545"/>
            </a:avLst>
          </a:prstGeom>
          <a:solidFill>
            <a:srgbClr val="4ECDC4"/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228600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🥈</a:t>
            </a:r>
            <a:endParaRPr lang="en-US" sz="8000" dirty="0"/>
          </a:p>
        </p:txBody>
      </p:sp>
      <p:sp>
        <p:nvSpPr>
          <p:cNvPr id="17" name="Text 15"/>
          <p:cNvSpPr/>
          <p:nvPr/>
        </p:nvSpPr>
        <p:spPr>
          <a:xfrm>
            <a:off x="6400800" y="33832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00800" y="40233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💰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400800" y="47548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TIỀN MẶT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400800" y="5349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1 · Photo Reaction Challenge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8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FD93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1A5490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66360" y="914400"/>
            <a:ext cx="1828800" cy="1828800"/>
          </a:xfrm>
          <a:prstGeom prst="ellipse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6636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8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3474720"/>
            <a:ext cx="11612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ĐUỔI HÌNH BẮT CHỮ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Cá nhân · Chơi trên Quiz.com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983480" y="557784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55778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~12 phút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8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🧩 GAME 2 - LUẬT CHƠI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Đuổi Hình Bắt Chữ · Cá nhân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109728" cy="96012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82880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828800" y="1920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Tham gia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22860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code / nhập PIN trên màn hình để vào quiz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92608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926080"/>
            <a:ext cx="109728" cy="96012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92608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828800" y="3017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Câu hỏi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3383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câu hỏi đuổi hình bắt chữ, hiển thị lần lượt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023360"/>
            <a:ext cx="109728" cy="96012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02336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⏱️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828800" y="4114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Thời gian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44805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giây cho mỗi câu - trả lời càng nhanh điểm càng cao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12064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5120640"/>
            <a:ext cx="109728" cy="96012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12064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⌨️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828800" y="5212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Nhập đáp án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828800" y="55778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thường + có đầy đủ dấu tiếng Việt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83680" y="1828800"/>
            <a:ext cx="5029200" cy="4206240"/>
          </a:xfrm>
          <a:prstGeom prst="roundRect">
            <a:avLst>
              <a:gd name="adj" fmla="val 3261"/>
            </a:avLst>
          </a:prstGeom>
          <a:solidFill>
            <a:srgbClr val="1A5490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0" y="1965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MINH HỌA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949440" y="2468880"/>
            <a:ext cx="42976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0" y="2468880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🐟 + ➕</a:t>
            </a:r>
            <a:endParaRPr lang="en-US" sz="6000" dirty="0"/>
          </a:p>
        </p:txBody>
      </p:sp>
      <p:sp>
        <p:nvSpPr>
          <p:cNvPr id="33" name="Text 31"/>
          <p:cNvSpPr/>
          <p:nvPr/>
        </p:nvSpPr>
        <p:spPr>
          <a:xfrm>
            <a:off x="6949440" y="4023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Đáp án là gì?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498080" y="4434840"/>
            <a:ext cx="3200400" cy="502920"/>
          </a:xfrm>
          <a:prstGeom prst="roundRect">
            <a:avLst>
              <a:gd name="adj" fmla="val 49091"/>
            </a:avLst>
          </a:prstGeom>
          <a:solidFill>
            <a:srgbClr val="FFD93D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0" y="4434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cá tính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49440" y="51206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Nhớ: viết thường + có dấu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49440" y="5486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chính tả/dấu = không tính điểm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8C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GIẢI THƯỞNG GAME 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cá nhân điểm cao nhất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508760" y="347472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06A77D"/>
          </a:solidFill>
          <a:ln/>
          <a:effectLst>
            <a:outerShdw blurRad="1270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08760" y="37490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0" dirty="0"/>
          </a:p>
        </p:txBody>
      </p:sp>
      <p:sp>
        <p:nvSpPr>
          <p:cNvPr id="11" name="Text 9"/>
          <p:cNvSpPr/>
          <p:nvPr/>
        </p:nvSpPr>
        <p:spPr>
          <a:xfrm>
            <a:off x="1508760" y="5577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HẠNG BA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09160" y="2377440"/>
            <a:ext cx="2743200" cy="3840480"/>
          </a:xfrm>
          <a:prstGeom prst="roundRect">
            <a:avLst>
              <a:gd name="adj" fmla="val 5000"/>
            </a:avLst>
          </a:prstGeom>
          <a:solidFill>
            <a:srgbClr val="FFD93D"/>
          </a:solidFill>
          <a:ln/>
          <a:effectLst>
            <a:outerShdw blurRad="1270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26517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0" dirty="0"/>
          </a:p>
        </p:txBody>
      </p:sp>
      <p:sp>
        <p:nvSpPr>
          <p:cNvPr id="14" name="Text 12"/>
          <p:cNvSpPr/>
          <p:nvPr/>
        </p:nvSpPr>
        <p:spPr>
          <a:xfrm>
            <a:off x="4709160" y="5577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HẠNG NHẤT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909560" y="2926080"/>
            <a:ext cx="2743200" cy="3291840"/>
          </a:xfrm>
          <a:prstGeom prst="roundRect">
            <a:avLst>
              <a:gd name="adj" fmla="val 5000"/>
            </a:avLst>
          </a:prstGeom>
          <a:solidFill>
            <a:srgbClr val="4ECDC4"/>
          </a:solidFill>
          <a:ln/>
          <a:effectLst>
            <a:outerShdw blurRad="1270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09560" y="3200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0" dirty="0"/>
          </a:p>
        </p:txBody>
      </p:sp>
      <p:sp>
        <p:nvSpPr>
          <p:cNvPr id="17" name="Text 15"/>
          <p:cNvSpPr/>
          <p:nvPr/>
        </p:nvSpPr>
        <p:spPr>
          <a:xfrm>
            <a:off x="7909560" y="5577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HẠNG NHÌ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2 · Đuổi Hình Bắt Chữ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ECD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FD93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1A5490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66360" y="914400"/>
            <a:ext cx="1828800" cy="1828800"/>
          </a:xfrm>
          <a:prstGeom prst="ellipse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6636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3474720"/>
            <a:ext cx="11612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LÁ PHỔI VÔ ĐỊCH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🎈 2 đội cử thành viên · Vận động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983480" y="557784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55778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~12 phút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🎈 GAME 3 - LUẬT CHƠI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đội cử 5 thành viên lên thi đấu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548640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691640"/>
            <a:ext cx="5486400" cy="64008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91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PHẦN 1  ·  THỔI CỐC GIẤY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514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🥤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2194560" y="24688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đội nhận: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cốc giấy + 5 quả bóng bay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52044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</a:t>
            </a:r>
            <a:r>
              <a:rPr lang="en-US" sz="13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chơi: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viên lần lượt </a:t>
            </a: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thổi bóng bay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để nhấc cốc giấy và di chuyển sang bàn đối diện. Thực hiện luân phiên đến khi di chuyển đủ </a:t>
            </a: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cốc giấy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1691640"/>
            <a:ext cx="512064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691640"/>
            <a:ext cx="5120640" cy="640080"/>
          </a:xfrm>
          <a:prstGeom prst="rect">
            <a:avLst/>
          </a:prstGeom>
          <a:solidFill>
            <a:srgbClr val="1A54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6916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PHẦN 2  ·  THỔI BÓNG BÀN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75120" y="2514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🏓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7955280" y="24688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bàn đích: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 nước vào 4 cốc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352044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Cách chơi: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Thổi </a:t>
            </a:r>
            <a:r>
              <a:rPr lang="en-US" sz="13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quả bóng bàn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lần lượt qua </a:t>
            </a:r>
            <a:r>
              <a:rPr lang="en-US" sz="13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cốc nước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sao cho bóng rơi vào </a:t>
            </a:r>
            <a:r>
              <a:rPr lang="en-US" sz="13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cốc rỗng thứ 5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ở cuối.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371600" y="5852160"/>
            <a:ext cx="9418320" cy="64008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371600" y="58521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🏁  Đội hoàn thành 2 phần TRƯỚC = ĐỘI THẮNG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A7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FD93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1A5490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66360" y="914400"/>
            <a:ext cx="1828800" cy="1828800"/>
          </a:xfrm>
          <a:prstGeom prst="ellipse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6636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6A7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3474720"/>
            <a:ext cx="11612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SIÊU TRÍ TUỆ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2 đội cử thành viên · Đoán thành ngữ qua tiếng Anh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983480" y="557784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55778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~10 phút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A7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GAME 4 - LUẬT CHƠI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Siêu Trí Tuệ · Mỗi đội cử 5 thành viên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1600200"/>
            <a:ext cx="68580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600200"/>
            <a:ext cx="109728" cy="685800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60020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91640" y="164592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Số người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91640" y="1929384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đội cử 5 thành viên lên thi đấu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359152"/>
            <a:ext cx="68580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359152"/>
            <a:ext cx="109728" cy="685800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359152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691640" y="2404872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Thời gian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91640" y="2688336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đội thi đấu trong 4 phút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118104"/>
            <a:ext cx="68580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118104"/>
            <a:ext cx="109728" cy="685800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118104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🗣️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691640" y="316382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Cách chơi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91640" y="3447288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người diễn tả nhìn thành ngữ tiếng Việt trên màn hình, GIẢI THÍCH BẰNG TIẾNG ANH cho 4 đồng đội đoán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877056"/>
            <a:ext cx="68580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3877056"/>
            <a:ext cx="109728" cy="685800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877056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🙈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691640" y="3922776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Đồng đội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91640" y="420624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đồng đội ngồi quay lưng/bịt mắt - KHÔNG nhìn màn hình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636008"/>
            <a:ext cx="68580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4636008"/>
            <a:ext cx="109728" cy="685800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636008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🚫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1691640" y="4681728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Lưu ý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691640" y="4965192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buộc tiếng Anh - KHÔNG dùng hành động diễn tả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5394960"/>
            <a:ext cx="68580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39496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🏁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1691640" y="544068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Thắng cuộc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691640" y="5724144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 đoán đúng nhiều câu hơn trong 4 phút = ĐỘI THẮNG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772400" y="1600200"/>
            <a:ext cx="3931920" cy="4754880"/>
          </a:xfrm>
          <a:prstGeom prst="roundRect">
            <a:avLst>
              <a:gd name="adj" fmla="val 3488"/>
            </a:avLst>
          </a:prstGeom>
          <a:solidFill>
            <a:srgbClr val="1A549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77240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VÍ DỤ MINH HỌA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046720" y="2331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thành ngữ: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046720" y="2651760"/>
            <a:ext cx="33832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8046720" y="26517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"Một con ngựa đau,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tàu bỏ cỏ"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046720" y="3657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giải thích: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046720" y="397764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FFD93D">
              <a:alpha val="8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183880" y="406908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one member of a group is in trouble, the others lose their appetite or share the sadness..."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8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FD93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000000"/>
                </a:solidFill>
              </a:rPr>
              <a:t>☀️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SUNSHINE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kern="0" spc="800" dirty="0">
                <a:solidFill>
                  <a:srgbClr val="FFF8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DÃY BÀN 1 - THI ĐẤU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337560" y="4572000"/>
            <a:ext cx="5486400" cy="731520"/>
          </a:xfrm>
          <a:prstGeom prst="roundRect">
            <a:avLst>
              <a:gd name="adj" fmla="val 50000"/>
            </a:avLst>
          </a:prstGeom>
          <a:solidFill>
            <a:srgbClr val="1A5490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4572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⏱  4 PHÚT - SẴN SÀNG!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 1 người diễn tả · 4 người đoán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65760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FF8C4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☀️ TEAM SUNSHINE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96696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0" y="365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Câu 1/10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10332720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50800">
            <a:solidFill>
              <a:srgbClr val="FF8C42"/>
            </a:solidFill>
            <a:prstDash val="solid"/>
          </a:ln>
          <a:effectLst>
            <a:outerShdw blurRad="190500" dist="635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💭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hơn cha là nhà có phúc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Người diễn tả: giải thích bằng tiếng Anh cho đồng đội đoán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65760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FF8C4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☀️ TEAM SUNSHINE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96696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0" y="365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Câu 2/10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10332720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50800">
            <a:solidFill>
              <a:srgbClr val="FF8C42"/>
            </a:solidFill>
            <a:prstDash val="solid"/>
          </a:ln>
          <a:effectLst>
            <a:outerShdw blurRad="190500" dist="635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💭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Cười người hôm trước,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hôm sau người cười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Người diễn tả: giải thích bằng tiếng Anh cho đồng đội đoán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65760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FF8C4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☀️ TEAM SUNSHINE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96696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0" y="365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Câu 3/10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10332720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50800">
            <a:solidFill>
              <a:srgbClr val="FF8C42"/>
            </a:solidFill>
            <a:prstDash val="solid"/>
          </a:ln>
          <a:effectLst>
            <a:outerShdw blurRad="190500" dist="635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💭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 không ăn muối cá ươn,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cãi cha mẹ trăm đường con hư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Người diễn tả: giải thích bằng tiếng Anh cho đồng đội đoán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65760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FF8C4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☀️ TEAM SUNSHINE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96696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0" y="365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Câu 4/10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10332720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50800">
            <a:solidFill>
              <a:srgbClr val="FF8C42"/>
            </a:solidFill>
            <a:prstDash val="solid"/>
          </a:ln>
          <a:effectLst>
            <a:outerShdw blurRad="190500" dist="635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💭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Trâu bò đánh nhau,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ruồi muỗi chết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Người diễn tả: giải thích bằng tiếng Anh cho đồng đội đoán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65760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FF8C4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☀️ TEAM SUNSHINE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96696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0" y="365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Câu 5/10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10332720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50800">
            <a:solidFill>
              <a:srgbClr val="FF8C42"/>
            </a:solidFill>
            <a:prstDash val="solid"/>
          </a:ln>
          <a:effectLst>
            <a:outerShdw blurRad="190500" dist="635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💭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 em như thể tay chân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Người diễn tả: giải thích bằng tiếng Anh cho đồng đội đoán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65760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FF8C4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☀️ TEAM SUNSHINE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96696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0" y="365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Câu 6/10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10332720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50800">
            <a:solidFill>
              <a:srgbClr val="FF8C42"/>
            </a:solidFill>
            <a:prstDash val="solid"/>
          </a:ln>
          <a:effectLst>
            <a:outerShdw blurRad="190500" dist="635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💭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cha như núi Thái Sơn,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nghĩa mẹ như nước trong nguồn chảy ra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Người diễn tả: giải thích bằng tiếng Anh cho đồng đội đoán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65760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FF8C4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☀️ TEAM SUNSHINE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96696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0" y="365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Câu 7/10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10332720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50800">
            <a:solidFill>
              <a:srgbClr val="FF8C42"/>
            </a:solidFill>
            <a:prstDash val="solid"/>
          </a:ln>
          <a:effectLst>
            <a:outerShdw blurRad="190500" dist="635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💭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Ăn quả nhớ kẻ trồng cây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Người diễn tả: giải thích bằng tiếng Anh cho đồng đội đoán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65760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FF8C4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☀️ TEAM SUNSHINE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96696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0" y="365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Câu 8/10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10332720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50800">
            <a:solidFill>
              <a:srgbClr val="FF8C42"/>
            </a:solidFill>
            <a:prstDash val="solid"/>
          </a:ln>
          <a:effectLst>
            <a:outerShdw blurRad="190500" dist="635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💭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Máu chảy ruột mềm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Người diễn tả: giải thích bằng tiếng Anh cho đồng đội đoán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65760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FF8C4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☀️ TEAM SUNSHINE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96696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0" y="365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Câu 9/10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10332720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50800">
            <a:solidFill>
              <a:srgbClr val="FF8C42"/>
            </a:solidFill>
            <a:prstDash val="solid"/>
          </a:ln>
          <a:effectLst>
            <a:outerShdw blurRad="190500" dist="635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💭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Đứng núi này trông núi nọ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Người diễn tả: giải thích bằng tiếng Anh cho đồng đội đoán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65760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FF8C4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☀️ TEAM SUNSHINE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96696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0" y="365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Câu 10/10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10332720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50800">
            <a:solidFill>
              <a:srgbClr val="FF8C42"/>
            </a:solidFill>
            <a:prstDash val="solid"/>
          </a:ln>
          <a:effectLst>
            <a:outerShdw blurRad="190500" dist="635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💭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Nước đến chân mới nhảy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Người diễn tả: giải thích bằng tiếng Anh cho đồng đội đoán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ECD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1A5490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000000"/>
                </a:solidFill>
              </a:rPr>
              <a:t>🌊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OCEAN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kern="0" spc="800" dirty="0">
                <a:solidFill>
                  <a:srgbClr val="FFF8E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DÃY BÀN 2 - THI ĐẤU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337560" y="4572000"/>
            <a:ext cx="5486400" cy="731520"/>
          </a:xfrm>
          <a:prstGeom prst="roundRect">
            <a:avLst>
              <a:gd name="adj" fmla="val 50000"/>
            </a:avLst>
          </a:prstGeom>
          <a:solidFill>
            <a:srgbClr val="1A5490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4572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⏱  4 PHÚT - SẴN SÀNG!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 1 người diễn tả · 4 người đoán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65760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🌊 TEAM OCEAN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96696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0" y="365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Câu 1/10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10332720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blurRad="190500" dist="635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💭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giọt máu đào hơn ao nước lã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Người diễn tả: giải thích bằng tiếng Anh cho đồng đội đoán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65760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🌊 TEAM OCEAN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96696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0" y="365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Câu 2/10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10332720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blurRad="190500" dist="635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💭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Dạy con từ thuở còn thơ,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dạy vợ từ thuở bơ vơ mới về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Người diễn tả: giải thích bằng tiếng Anh cho đồng đội đoán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65760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🌊 TEAM OCEAN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96696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0" y="365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Câu 3/10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10332720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blurRad="190500" dist="635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💭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ăn, học nói,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gói, học mở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Người diễn tả: giải thích bằng tiếng Anh cho đồng đội đoán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65760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🌊 TEAM OCEAN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96696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0" y="365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Câu 4/10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10332720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blurRad="190500" dist="635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💭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Nhà sạch thì mát,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bát sạch ngon cơm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Người diễn tả: giải thích bằng tiếng Anh cho đồng đội đoán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65760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🌊 TEAM OCEAN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96696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0" y="365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Câu 5/10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10332720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blurRad="190500" dist="635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💭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Lửa thử vàng,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 nan thử sức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Người diễn tả: giải thích bằng tiếng Anh cho đồng đội đoán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65760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🌊 TEAM OCEAN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96696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0" y="365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Câu 6/10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10332720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blurRad="190500" dist="635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💭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cây làm chẳng nên non,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cây chụm lại nên hòn núi cao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Người diễn tả: giải thích bằng tiếng Anh cho đồng đội đoán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65760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🌊 TEAM OCEAN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96696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0" y="365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Câu 7/10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10332720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blurRad="190500" dist="635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💭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Ông nói gà, bà nói vịt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Người diễn tả: giải thích bằng tiếng Anh cho đồng đội đoán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65760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🌊 TEAM OCEAN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96696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0" y="365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Câu 8/10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10332720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blurRad="190500" dist="635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💭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Ăn cây táo, rào cây sung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Người diễn tả: giải thích bằng tiếng Anh cho đồng đội đoán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65760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🌊 TEAM OCEAN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96696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0" y="365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Câu 9/10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10332720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blurRad="190500" dist="635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💭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Nước đổ đầu vịt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Người diễn tả: giải thích bằng tiếng Anh cho đồng đội đoán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65760"/>
            <a:ext cx="2926080" cy="502920"/>
          </a:xfrm>
          <a:prstGeom prst="roundRect">
            <a:avLst>
              <a:gd name="adj" fmla="val 49091"/>
            </a:avLst>
          </a:pr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65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🌊 TEAM OCEAN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966960" y="3657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0" y="365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Câu 10/10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10332720" cy="42976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50800">
            <a:solidFill>
              <a:srgbClr val="4ECDC4"/>
            </a:solidFill>
            <a:prstDash val="solid"/>
          </a:ln>
          <a:effectLst>
            <a:outerShdw blurRad="190500" dist="635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💭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Tốt gỗ hơn tốt nước sơn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Người diễn tả: giải thích bằng tiếng Anh cho đồng đội đoán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9B5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FD93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1A5490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66360" y="914400"/>
            <a:ext cx="1828800" cy="1828800"/>
          </a:xfrm>
          <a:prstGeom prst="ellipse">
            <a:avLst/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6636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5 · JACKPOT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3474720"/>
            <a:ext cx="11612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CHAM </a:t>
            </a:r>
            <a:r>
              <a:rPr lang="en-US" sz="5000" b="1" kern="0" spc="200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CHAM</a:t>
            </a:r>
            <a:r>
              <a:rPr lang="en-US" sz="50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5000" b="1" kern="0" spc="200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CHAM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8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🎰 8 người bốc thăm ngẫu nhiên · Knock-out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983480" y="557784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1A5490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55778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~15 phút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A5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457200"/>
            <a:ext cx="274320" cy="274320"/>
          </a:xfrm>
          <a:prstGeom prst="ellipse">
            <a:avLst/>
          </a:prstGeom>
          <a:solidFill>
            <a:srgbClr val="FFD93D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1188720"/>
            <a:ext cx="274320" cy="274320"/>
          </a:xfrm>
          <a:prstGeom prst="ellipse">
            <a:avLst/>
          </a:prstGeom>
          <a:solidFill>
            <a:srgbClr val="FFD93D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822960"/>
            <a:ext cx="274320" cy="274320"/>
          </a:xfrm>
          <a:prstGeom prst="ellipse">
            <a:avLst/>
          </a:prstGeom>
          <a:solidFill>
            <a:srgbClr val="FFD93D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1200" y="1645920"/>
            <a:ext cx="274320" cy="274320"/>
          </a:xfrm>
          <a:prstGeom prst="ellipse">
            <a:avLst/>
          </a:prstGeom>
          <a:solidFill>
            <a:srgbClr val="FFD93D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365760"/>
            <a:ext cx="274320" cy="274320"/>
          </a:xfrm>
          <a:prstGeom prst="ellipse">
            <a:avLst/>
          </a:prstGeom>
          <a:solidFill>
            <a:srgbClr val="FFD93D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3152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000000"/>
                </a:solidFill>
              </a:rPr>
              <a:t>🎰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600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GALA JACKPOT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1828800" y="3200400"/>
            <a:ext cx="8503920" cy="1371600"/>
          </a:xfrm>
          <a:prstGeom prst="roundRect">
            <a:avLst>
              <a:gd name="adj" fmla="val 13333"/>
            </a:avLst>
          </a:prstGeom>
          <a:solidFill>
            <a:srgbClr val="FF8C42"/>
          </a:solidFill>
          <a:ln/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28800" y="32918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🏆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828800" y="38862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GIẢI LỚN TỪ SPONSOR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người được bốc thăm ngẫu nhiên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94760" y="5943600"/>
            <a:ext cx="4572000" cy="54864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3794760" y="5943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 Ai sẽ là người may mắn?  🎲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🎰 GAME 5 - LUẬT CHƠI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 </a:t>
            </a:r>
            <a:r>
              <a:rPr lang="en-US" sz="1800" i="1" dirty="0" err="1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</a:t>
            </a:r>
            <a:r>
              <a:rPr lang="en-US" sz="18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</a:t>
            </a:r>
            <a:r>
              <a:rPr lang="en-US" sz="18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Jackpot Edition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810512"/>
            <a:ext cx="548640" cy="54864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810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176479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Oẳn tù tì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075688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người chơi oẳn tù tì để xác định vai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42032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660904"/>
            <a:ext cx="548640" cy="54864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6609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25880" y="2615184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Phân vai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292608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Thắng = Tấn công (hất tay) · Thua = Phòng thủ (quay mặt)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92424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511296"/>
            <a:ext cx="548640" cy="54864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5112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25880" y="3465576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Hô "Cham </a:t>
            </a:r>
            <a:r>
              <a:rPr lang="en-US" sz="1400" b="1" dirty="0" err="1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Cham</a:t>
            </a:r>
            <a:r>
              <a:rPr lang="en-US" sz="14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400" b="1" dirty="0" err="1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Cham</a:t>
            </a:r>
            <a:r>
              <a:rPr lang="en-US" sz="14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3776472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bị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MC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sẽ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42816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4361688"/>
            <a:ext cx="548640" cy="54864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361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325880" y="431596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Đúng tiếng cuối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4626864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Tấn công: hất CẢ BÀN TAY trái/phải · Phòng thủ: quay mặt trái/phải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093208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4360" y="5212080"/>
            <a:ext cx="548640" cy="54864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5212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325880" y="51663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Phân định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25880" y="5477256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Trùng hướng → Tấn công THẮNG · Khác hướng → Đổi vai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98080" y="1691640"/>
            <a:ext cx="4206240" cy="4572000"/>
          </a:xfrm>
          <a:prstGeom prst="roundRect">
            <a:avLst>
              <a:gd name="adj" fmla="val 3261"/>
            </a:avLst>
          </a:prstGeom>
          <a:solidFill>
            <a:srgbClr val="1A549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498080" y="1920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CHỈ 2 HƯỚNG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772400" y="2606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⬅️</a:t>
            </a:r>
            <a:endParaRPr lang="en-US" sz="7200" dirty="0"/>
          </a:p>
        </p:txBody>
      </p:sp>
      <p:sp>
        <p:nvSpPr>
          <p:cNvPr id="37" name="Text 35"/>
          <p:cNvSpPr/>
          <p:nvPr/>
        </p:nvSpPr>
        <p:spPr>
          <a:xfrm>
            <a:off x="777240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TRÁI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058400" y="2606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➡️</a:t>
            </a:r>
            <a:endParaRPr lang="en-US" sz="7200" dirty="0"/>
          </a:p>
        </p:txBody>
      </p:sp>
      <p:sp>
        <p:nvSpPr>
          <p:cNvPr id="39" name="Text 37"/>
          <p:cNvSpPr/>
          <p:nvPr/>
        </p:nvSpPr>
        <p:spPr>
          <a:xfrm>
            <a:off x="1005840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PHẢI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281160" y="2971800"/>
            <a:ext cx="640080" cy="64008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41" name="Text 39"/>
          <p:cNvSpPr/>
          <p:nvPr/>
        </p:nvSpPr>
        <p:spPr>
          <a:xfrm>
            <a:off x="928116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hoặc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772400" y="461772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FD93D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47091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5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Lưu ý: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Hất </a:t>
            </a: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BÀN TAY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(không phải 1 ngón). Chỉ chọn </a:t>
            </a: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TRÁI hoặc PHẢI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-137160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1097280"/>
            <a:ext cx="2194560" cy="2194560"/>
          </a:xfrm>
          <a:prstGeom prst="ellipse">
            <a:avLst/>
          </a:prstGeom>
          <a:solidFill>
            <a:srgbClr val="FF8C42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6126480"/>
            <a:ext cx="15819120" cy="2286000"/>
          </a:xfrm>
          <a:prstGeom prst="ellipse">
            <a:avLst/>
          </a:prstGeom>
          <a:solidFill>
            <a:srgbClr val="4ECD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74320"/>
            <a:ext cx="365760" cy="365760"/>
          </a:xfrm>
          <a:prstGeom prst="ellipse">
            <a:avLst/>
          </a:prstGeom>
          <a:solidFill>
            <a:srgbClr val="FF6B6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548640"/>
            <a:ext cx="228600" cy="228600"/>
          </a:xfrm>
          <a:prstGeom prst="ellipse">
            <a:avLst/>
          </a:prstGeom>
          <a:solidFill>
            <a:srgbClr val="06A77D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THỂ THỨC THI ĐẤU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Bốc thăm ngẫu nhiên qua 3 vòng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155448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554480"/>
            <a:ext cx="3657600" cy="5486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554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VÒNG 1 · TỨ KẾT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" y="2240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</a:rPr>
              <a:t>🎲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594360" y="3154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Bốc thăm 4 lần - mỗi lần 2 người đối kháng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65760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4ECDC4">
              <a:alpha val="15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6576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1: A vs B → 1 winner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2: C vs D → 1 winner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3: E vs F → 1 winner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4: G vs H → 1 winner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5074920"/>
            <a:ext cx="3291840" cy="502920"/>
          </a:xfrm>
          <a:prstGeom prst="roundRect">
            <a:avLst>
              <a:gd name="adj" fmla="val 49091"/>
            </a:avLst>
          </a:prstGeom>
          <a:solidFill>
            <a:srgbClr val="4ECDC4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50749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Lấy ra 4 người thắng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51960" y="155448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51960" y="1554480"/>
            <a:ext cx="3657600" cy="548640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20" name="Text 18"/>
          <p:cNvSpPr/>
          <p:nvPr/>
        </p:nvSpPr>
        <p:spPr>
          <a:xfrm>
            <a:off x="4251960" y="1554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VÒNG 2 · BÁN KẾT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51960" y="2240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</a:rPr>
              <a:t>🎯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4434840" y="3154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Bốc thăm 2 lần từ 4 người thắng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365760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06A77D">
              <a:alpha val="15000"/>
            </a:srgbClr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36576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1: ? vs ? → 1 winner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2: ? vs ? → 1 winner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34840" y="5074920"/>
            <a:ext cx="3291840" cy="502920"/>
          </a:xfrm>
          <a:prstGeom prst="roundRect">
            <a:avLst>
              <a:gd name="adj" fmla="val 49091"/>
            </a:avLst>
          </a:prstGeom>
          <a:solidFill>
            <a:srgbClr val="06A77D"/>
          </a:solidFill>
          <a:ln/>
        </p:spPr>
      </p:sp>
      <p:sp>
        <p:nvSpPr>
          <p:cNvPr id="26" name="Text 24"/>
          <p:cNvSpPr/>
          <p:nvPr/>
        </p:nvSpPr>
        <p:spPr>
          <a:xfrm>
            <a:off x="4434840" y="50749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Lấy ra 2 người vào chung kết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92440" y="155448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92440" y="1554480"/>
            <a:ext cx="3657600" cy="5486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9" name="Text 27"/>
          <p:cNvSpPr/>
          <p:nvPr/>
        </p:nvSpPr>
        <p:spPr>
          <a:xfrm>
            <a:off x="8092440" y="1554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VÒNG 3 · CHUNG KẾT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092440" y="2240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</a:rPr>
              <a:t>🏆</a:t>
            </a:r>
            <a:endParaRPr lang="en-US" sz="5000" dirty="0"/>
          </a:p>
        </p:txBody>
      </p:sp>
      <p:sp>
        <p:nvSpPr>
          <p:cNvPr id="31" name="Text 29"/>
          <p:cNvSpPr/>
          <p:nvPr/>
        </p:nvSpPr>
        <p:spPr>
          <a:xfrm>
            <a:off x="8275320" y="3154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3 - kịch tính đến phút cuối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75320" y="365760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6B6B">
              <a:alpha val="1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66760" y="36576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đấu thủ cuối cùng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Thắng 2/3 ván = VÔ ĐỊCH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JACKPOT bùng nổ!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75320" y="5074920"/>
            <a:ext cx="3291840" cy="502920"/>
          </a:xfrm>
          <a:prstGeom prst="roundRect">
            <a:avLst>
              <a:gd name="adj" fmla="val 49091"/>
            </a:avLst>
          </a:prstGeom>
          <a:solidFill>
            <a:srgbClr val="FF6B6B"/>
          </a:solidFill>
          <a:ln/>
        </p:spPr>
      </p:sp>
      <p:sp>
        <p:nvSpPr>
          <p:cNvPr id="35" name="Text 33"/>
          <p:cNvSpPr/>
          <p:nvPr/>
        </p:nvSpPr>
        <p:spPr>
          <a:xfrm>
            <a:off x="8275320" y="50749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🏆 NHÀ VÔ ĐỊCH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4400" y="6217920"/>
            <a:ext cx="10332720" cy="45720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MC nằm trong danh sách bốc thăm - không ai miễn trừ!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A5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FD93D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9B59B6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kern="0" spc="400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GIẢI THƯỞNG JACKPOT 🏆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nhà vô địch duy nhất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1737360"/>
            <a:ext cx="7589520" cy="4114800"/>
          </a:xfrm>
          <a:prstGeom prst="roundRect">
            <a:avLst>
              <a:gd name="adj" fmla="val 4444"/>
            </a:avLst>
          </a:prstGeom>
          <a:solidFill>
            <a:srgbClr val="FFD93D"/>
          </a:solidFill>
          <a:ln w="50800">
            <a:solidFill>
              <a:srgbClr val="FF6B6B"/>
            </a:solidFill>
            <a:prstDash val="solid"/>
          </a:ln>
          <a:effectLst>
            <a:outerShdw blurRad="254000" dist="762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192024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🏆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2286000" y="310896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6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NHÀ VÔ ĐỊCH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86000" y="374904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800" dirty="0">
                <a:solidFill>
                  <a:srgbClr val="1A5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JACKPOT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2286000" y="47548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LỚN từ Sponsor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017520" y="5257800"/>
            <a:ext cx="6126480" cy="4572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525780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Winner takes all  🎁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A5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57200"/>
            <a:ext cx="1828800" cy="182880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640080"/>
            <a:ext cx="1463040" cy="146304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5486400"/>
            <a:ext cx="15819120" cy="2743200"/>
          </a:xfrm>
          <a:prstGeom prst="ellipse">
            <a:avLst/>
          </a:prstGeom>
          <a:solidFill>
            <a:srgbClr val="4ECDC4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6217920"/>
            <a:ext cx="13990320" cy="1828800"/>
          </a:xfrm>
          <a:prstGeom prst="ellipse">
            <a:avLst/>
          </a:prstGeom>
          <a:solidFill>
            <a:srgbClr val="FF6B6B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57200"/>
            <a:ext cx="731520" cy="731520"/>
          </a:xfrm>
          <a:prstGeom prst="ellipse">
            <a:avLst/>
          </a:prstGeom>
          <a:solidFill>
            <a:srgbClr val="FFD93D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🌴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kern="0" spc="600" dirty="0">
                <a:solidFill>
                  <a:srgbClr val="FFD9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ENJOY THE SUMMER!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Department · FY2026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794760" y="4572000"/>
            <a:ext cx="4572000" cy="64008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3794760" y="45720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See you at the gala!  ✨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1916</Words>
  <Application>Microsoft Office PowerPoint</Application>
  <PresentationFormat>Widescreen</PresentationFormat>
  <Paragraphs>424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Summer Vacation FY2026 - Gameshow</dc:title>
  <dc:subject>PptxGenJS Presentation</dc:subject>
  <dc:creator>AI Department</dc:creator>
  <cp:lastModifiedBy>Le Quang Trung</cp:lastModifiedBy>
  <cp:revision>12</cp:revision>
  <dcterms:created xsi:type="dcterms:W3CDTF">2026-06-12T03:50:50Z</dcterms:created>
  <dcterms:modified xsi:type="dcterms:W3CDTF">2026-06-12T04:17:25Z</dcterms:modified>
</cp:coreProperties>
</file>